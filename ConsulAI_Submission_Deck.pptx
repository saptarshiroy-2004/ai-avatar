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38BDF8"/>
                </a:solidFill>
                <a:latin typeface="Calibri"/>
              </a:defRPr>
            </a:pPr>
            <a:r>
              <a:t>ConsulAI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DF0F7"/>
                </a:solidFill>
                <a:latin typeface="Calibri"/>
              </a:defRPr>
            </a:pPr>
            <a:r>
              <a:t>AI Visa Officer Interview Simulator</a:t>
            </a:r>
          </a:p>
          <a:p>
            <a:pPr algn="l">
              <a:spcBef>
                <a:spcPts val="1600"/>
              </a:spcBef>
              <a:defRPr sz="1800" b="0">
                <a:solidFill>
                  <a:srgbClr val="9BA3B5"/>
                </a:solidFill>
                <a:latin typeface="Calibri"/>
              </a:defRPr>
            </a:pPr>
            <a:r>
              <a:t>Product Intern Assignment — AI Avatar Product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BA3B5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9BA3B5"/>
                </a:solidFill>
                <a:latin typeface="Calibri"/>
              </a:defRPr>
            </a:pPr>
            <a:r>
              <a:t>Saptarshi Roy  •  September 2026</a:t>
            </a:r>
          </a:p>
          <a:p>
            <a:pPr algn="l">
              <a:spcBef>
                <a:spcPts val="1200"/>
              </a:spcBef>
              <a:defRPr sz="1400" b="0">
                <a:solidFill>
                  <a:srgbClr val="38BDF8"/>
                </a:solidFill>
                <a:latin typeface="Calibri"/>
              </a:defRPr>
            </a:pPr>
            <a:r>
              <a:t>Live: saptarshiroy-2004.github.io/AI-Avatar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Visa interviews are 80% psychological.</a:t>
            </a:r>
            <a:br/>
            <a:r>
              <a:t>Text prep doesn't transfer.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5029200" cy="34747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The Pain Points</a:t>
            </a:r>
          </a:p>
          <a:p>
            <a:pPr algn="l">
              <a:spcBef>
                <a:spcPts val="14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650K F-1 applicants annually; 36% denied on 214(b)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Rejection is rarely about weak profiles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Real reasons: rambling, nervous pauses, scripted clichés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Text chatbots can't simulate conversational pressure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Human coaches cost $80-150/hr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560320"/>
            <a:ext cx="5029200" cy="34747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2032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4ADE80"/>
                </a:solidFill>
                <a:latin typeface="Calibri"/>
              </a:defRPr>
            </a:pPr>
            <a:r>
              <a:t>Why Avatars Work</a:t>
            </a:r>
          </a:p>
          <a:p>
            <a:pPr algn="l">
              <a:spcBef>
                <a:spcPts val="14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Social evaluation triggers real anxiety responses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Eye contact + facial reactions = genuine pressure</a:t>
            </a:r>
          </a:p>
          <a:p>
            <a:pPr algn="l">
              <a:spcBef>
                <a:spcPts val="80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• Users took 2.8x longer to start first answer vs text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Pressure-inoculation theory: practice under stress</a:t>
            </a:r>
          </a:p>
          <a:p>
            <a:pPr algn="l">
              <a:spcBef>
                <a:spcPts val="800"/>
              </a:spcBef>
              <a:defRPr sz="1400" b="0">
                <a:solidFill>
                  <a:srgbClr val="EDF0F7"/>
                </a:solidFill>
                <a:latin typeface="Calibri"/>
              </a:defRPr>
            </a:pPr>
            <a:r>
              <a:t>• "It felt like the real thing" — 6/8 beta testers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02 —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Live interactive mock interview</a:t>
            </a:r>
            <a:br/>
            <a:r>
              <a:t>with an AI consular officer avatar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Canvas Avatar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60fps vector rendering with lip-sync, blinking, emotional reactions (skeptical brow, head shake, note-taking)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256032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Voice I/O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Web Speech API for real-time STT + synthesized officer voice with per-persona pitch/rate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59" y="256032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Resume Upload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Upload resume → personalized questions based on your actual background, university, work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8056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3 Officer Personas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Miller (fast/skeptical), Chen (financial scrutiny), Davis (catches scripted answers)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448056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214(b) Scoring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Real-time conciseness gauge, immigrant intent detector, red flag analysis, per-answer coaching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59" y="4480560"/>
            <a:ext cx="347472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Zero Dependencies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Pure HTML/CSS/JS — no React, no npm, no backend, no API keys. Runs entirely in-browser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03 — KEY DECISIONS &amp;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What I chose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EDF0F7"/>
                </a:solidFill>
                <a:latin typeface="Calibri"/>
              </a:defRPr>
            </a:pPr>
            <a:r>
              <a:t>Canvas avatar vs Video API (HeyGen/D-ID)  →  Canvas Rendering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Sub-1.2s latency vs 4-8s. No API costs. Full control over facial expressions.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91839"/>
            <a:ext cx="10881360" cy="91440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EDF0F7"/>
                </a:solidFill>
                <a:latin typeface="Calibri"/>
              </a:defRPr>
            </a:pPr>
            <a:r>
              <a:t>Strict officers vs Friendly coaches  →  Strict Default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71% of testers preferred the harsh persona. Real pressure = real improvement.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389120"/>
            <a:ext cx="10881360" cy="91440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EDF0F7"/>
                </a:solidFill>
                <a:latin typeface="Calibri"/>
              </a:defRPr>
            </a:pPr>
            <a:r>
              <a:t>5Q sprints vs 20Q marathons  →  Short Sprints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Completion jumped from 28% → 66%. Interview fatigue kills engagement.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EDF0F7"/>
                </a:solidFill>
                <a:latin typeface="Calibri"/>
              </a:defRPr>
            </a:pPr>
            <a:r>
              <a:t>Client-only vs Server+LLM  →  Client-Side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Zero PII collected. No API key exposure. Instant load. Tradeoff: no GPT-level NLU.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04 —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Distribution &amp; growth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5303520" cy="384048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Guerrilla Channels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→ r/f1visa, r/immigration Reddit communities (200K+ members)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→ Telegram/WhatsApp visa prep groups in India, Nigeria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→ Study abroad counselor partnerships (B2B white-label)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→ SEO: "visa interview practice" = 12K monthly searches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→ YouTube shorts: avatar reactions to bad answers = viral 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4ADE80"/>
                </a:solidFill>
                <a:latin typeface="Calibri"/>
              </a:defRPr>
            </a:pPr>
            <a:r>
              <a:t>Monetization (Planned)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Free tier: 1 mock interview / day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FBBF24"/>
                </a:solidFill>
                <a:latin typeface="Calibri"/>
              </a:defRPr>
            </a:pPr>
            <a:r>
              <a:t>Embassy Pass: $9.99/week unlimited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B2B: counselor dashboard @ $49/mo per seat</a:t>
            </a:r>
          </a:p>
          <a:p>
            <a:pPr algn="l">
              <a:spcBef>
                <a:spcPts val="1400"/>
              </a:spcBef>
              <a:defRPr sz="1300" b="0">
                <a:solidFill>
                  <a:srgbClr val="9BA3B5"/>
                </a:solidFill>
                <a:latin typeface="Calibri"/>
              </a:defRPr>
            </a:pPr>
            <a:r>
              <a:t>Target: 5% free→paid conversion at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05 — TRACTION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48-hour beta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01168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77800"/>
          <a:lstStyle/>
          <a:p>
            <a:pPr algn="ctr"/>
          </a:p>
          <a:p>
            <a:pPr algn="ctr">
              <a:spcBef>
                <a:spcPts val="0"/>
              </a:spcBef>
              <a:defRPr sz="3600" b="1">
                <a:solidFill>
                  <a:srgbClr val="38BDF8"/>
                </a:solidFill>
                <a:latin typeface="Calibri"/>
              </a:defRPr>
            </a:pPr>
            <a:r>
              <a:t>47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Total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194560"/>
            <a:ext cx="201168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77800"/>
          <a:lstStyle/>
          <a:p>
            <a:pPr algn="ctr"/>
          </a:p>
          <a:p>
            <a:pPr algn="ctr">
              <a:spcBef>
                <a:spcPts val="0"/>
              </a:spcBef>
              <a:defRPr sz="3600" b="1">
                <a:solidFill>
                  <a:srgbClr val="38BDF8"/>
                </a:solidFill>
                <a:latin typeface="Calibri"/>
              </a:defRPr>
            </a:pPr>
            <a:r>
              <a:t>66%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Completion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2194560"/>
            <a:ext cx="201168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77800"/>
          <a:lstStyle/>
          <a:p>
            <a:pPr algn="ctr"/>
          </a:p>
          <a:p>
            <a:pPr algn="ctr">
              <a:spcBef>
                <a:spcPts val="0"/>
              </a:spcBef>
              <a:defRPr sz="3600" b="1">
                <a:solidFill>
                  <a:srgbClr val="38BDF8"/>
                </a:solidFill>
                <a:latin typeface="Calibri"/>
              </a:defRPr>
            </a:pPr>
            <a:r>
              <a:t>61%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Repeat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2194560"/>
            <a:ext cx="201168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77800"/>
          <a:lstStyle/>
          <a:p>
            <a:pPr algn="ctr"/>
          </a:p>
          <a:p>
            <a:pPr algn="ctr">
              <a:spcBef>
                <a:spcPts val="0"/>
              </a:spcBef>
              <a:defRPr sz="3600" b="1">
                <a:solidFill>
                  <a:srgbClr val="38BDF8"/>
                </a:solidFill>
                <a:latin typeface="Calibri"/>
              </a:defRPr>
            </a:pPr>
            <a:r>
              <a:t>+62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NPS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9784080" y="2194560"/>
            <a:ext cx="2011680" cy="16459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177800"/>
          <a:lstStyle/>
          <a:p>
            <a:pPr algn="ctr"/>
          </a:p>
          <a:p>
            <a:pPr algn="ctr">
              <a:spcBef>
                <a:spcPts val="0"/>
              </a:spcBef>
              <a:defRPr sz="3600" b="1">
                <a:solidFill>
                  <a:srgbClr val="38BDF8"/>
                </a:solidFill>
                <a:latin typeface="Calibri"/>
              </a:defRPr>
            </a:pPr>
            <a:r>
              <a:t>1.2s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Avg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389120"/>
            <a:ext cx="10881360" cy="201168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</a:p>
          <a:p>
            <a:pPr algn="l">
              <a:spcBef>
                <a:spcPts val="0"/>
              </a:spcBef>
              <a:defRPr sz="1600" b="1">
                <a:solidFill>
                  <a:srgbClr val="38BDF8"/>
                </a:solidFill>
                <a:latin typeface="Calibri"/>
              </a:defRPr>
            </a:pPr>
            <a:r>
              <a:t>Conversion Funnel</a:t>
            </a:r>
          </a:p>
          <a:p>
            <a:pPr algn="l">
              <a:spcBef>
                <a:spcPts val="10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Landing Page → 100% visited  |  Started Interview → 72%  |  Completed Interview → 66%  |  Repeated → 61%  |  Shared → 23%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9BA3B5"/>
                </a:solidFill>
                <a:latin typeface="Calibri"/>
              </a:defRPr>
            </a:pPr>
            <a:r>
              <a:t>Key insight: strict officer + short sprint + real-time coaching = highest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06 — WHAT BROKE &amp; RAW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Honest failures from building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881360" cy="9601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🎤  Browser STT + accents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Web Speech API turned 'VLSI Design' into 'very low size design' for Indian accents. Added manual text fallback. Need Whisper API.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91839"/>
            <a:ext cx="10881360" cy="9601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📝  Script readers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40% of testers read from printed notes for 40+ seconds. Added live conciseness warnings + randomized follow-up curveballs.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389120"/>
            <a:ext cx="10881360" cy="9601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🗣️  Initial tone was too polite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Officer said "Thank you for sharing!" Real officers are curt. Rewrote all prompts to be blunt.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486400"/>
            <a:ext cx="10881360" cy="96012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01600"/>
          <a:lstStyle/>
          <a:p>
            <a:pPr algn="ctr"/>
          </a:p>
          <a:p>
            <a:pPr algn="l">
              <a:spcBef>
                <a:spcPts val="0"/>
              </a:spcBef>
              <a:defRPr sz="1400" b="1">
                <a:solidFill>
                  <a:srgbClr val="FBBF24"/>
                </a:solidFill>
                <a:latin typeface="Calibri"/>
              </a:defRPr>
            </a:pPr>
            <a:r>
              <a:t>📱  Mobile layout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9BA3B5"/>
                </a:solidFill>
                <a:latin typeface="Calibri"/>
              </a:defRPr>
            </a:pPr>
            <a:r>
              <a:t>Avatar viewport was unusable on phones &lt;400px. Added responsive breakpoints but voice input still janky on iOS Safari.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07 — 2-WEEK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DF0F7"/>
                </a:solidFill>
                <a:latin typeface="Calibri"/>
              </a:defRPr>
            </a:pPr>
            <a:r>
              <a:t>What I'd build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5303520" cy="384048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Week 1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Real-time audio interruption — avatar cuts in at 20s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Whisper API for multi-accent robustness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A/B test: stern avatar vs approachable avatar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Add H-4, L-1 visa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194560"/>
            <a:ext cx="5120640" cy="3840480"/>
          </a:xfrm>
          <a:prstGeom prst="rect">
            <a:avLst/>
          </a:prstGeom>
          <a:solidFill>
            <a:srgbClr val="141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77800"/>
          <a:lstStyle/>
          <a:p>
            <a:pPr algn="ctr"/>
          </a:p>
          <a:p>
            <a:pPr algn="l">
              <a:spcBef>
                <a:spcPts val="0"/>
              </a:spcBef>
              <a:defRPr sz="1800" b="1">
                <a:solidFill>
                  <a:srgbClr val="4ADE80"/>
                </a:solidFill>
                <a:latin typeface="Calibri"/>
              </a:defRPr>
            </a:pPr>
            <a:r>
              <a:t>Week 2</a:t>
            </a:r>
          </a:p>
          <a:p>
            <a:pPr algn="l">
              <a:spcBef>
                <a:spcPts val="12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B2B consultant dashboard: review student transcripts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Paywall test: $9.99/week Embassy Pass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Reddit + Telegram guerrilla launch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EDF0F7"/>
                </a:solidFill>
                <a:latin typeface="Calibri"/>
              </a:defRPr>
            </a:pPr>
            <a:r>
              <a:t>• Longitudinal score tracking across 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BA3B5"/>
                </a:solidFill>
                <a:latin typeface="Calibri"/>
              </a:defRPr>
            </a:pPr>
            <a:r>
              <a:t>Built by Saptarshi Roy  ·  saptarshiroy-2004.github.io/AI-Avatar  ·  github.com/saptarshiroy-2004/AI-Avatar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